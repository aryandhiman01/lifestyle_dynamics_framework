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imes New Roman MT" charset="1" panose="02030502070405020303"/>
      <p:regular r:id="rId18"/>
    </p:embeddedFont>
    <p:embeddedFont>
      <p:font typeface="Times New Roman MT Bold" charset="1" panose="020308020704050203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3581" y="351273"/>
            <a:ext cx="1354855" cy="1354855"/>
          </a:xfrm>
          <a:custGeom>
            <a:avLst/>
            <a:gdLst/>
            <a:ahLst/>
            <a:cxnLst/>
            <a:rect r="r" b="b" t="t" l="l"/>
            <a:pathLst>
              <a:path h="1354855" w="1354855">
                <a:moveTo>
                  <a:pt x="0" y="0"/>
                </a:moveTo>
                <a:lnTo>
                  <a:pt x="1354855" y="0"/>
                </a:lnTo>
                <a:lnTo>
                  <a:pt x="1354855" y="1354854"/>
                </a:lnTo>
                <a:lnTo>
                  <a:pt x="0" y="1354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33608" y="7315858"/>
            <a:ext cx="5220784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Presented By: Aryan Dhiman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331008" y="2700771"/>
            <a:ext cx="15625984" cy="3583920"/>
            <a:chOff x="0" y="0"/>
            <a:chExt cx="20834645" cy="47785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995757" y="1942226"/>
              <a:ext cx="16843130" cy="2836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 Data-Driven Analysis of Sleep, Stress, Physical Activity and Health Outcomes using Statistical Analysis &amp; Machine Learning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14300"/>
              <a:ext cx="20834645" cy="14317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7670"/>
                </a:lnSpc>
              </a:pPr>
              <a:r>
                <a:rPr lang="en-US" b="true" sz="6500" spc="32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LIFESTYLE DYNAMICS FRAMEWORK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732197" y="4929836"/>
            <a:ext cx="1354855" cy="1354855"/>
          </a:xfrm>
          <a:custGeom>
            <a:avLst/>
            <a:gdLst/>
            <a:ahLst/>
            <a:cxnLst/>
            <a:rect r="r" b="b" t="t" l="l"/>
            <a:pathLst>
              <a:path h="1354855" w="1354855">
                <a:moveTo>
                  <a:pt x="0" y="0"/>
                </a:moveTo>
                <a:lnTo>
                  <a:pt x="1354854" y="0"/>
                </a:lnTo>
                <a:lnTo>
                  <a:pt x="1354854" y="1354855"/>
                </a:lnTo>
                <a:lnTo>
                  <a:pt x="0" y="1354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64540"/>
            <a:ext cx="10106050" cy="8622093"/>
            <a:chOff x="0" y="0"/>
            <a:chExt cx="13474734" cy="1149612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13474734" cy="825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59"/>
                </a:lnSpc>
              </a:pPr>
              <a:r>
                <a:rPr lang="en-US" sz="39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PROBLEM STATEMENT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28124"/>
              <a:ext cx="11039905" cy="1066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 today's fast-paced lifestyle, factors such as:</a:t>
              </a:r>
            </a:p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• Sleep Duration</a:t>
              </a:r>
            </a:p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• Sleep Quality</a:t>
              </a:r>
            </a:p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• Stress Level</a:t>
              </a:r>
            </a:p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• Physical Activity</a:t>
              </a:r>
            </a:p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• BMI</a:t>
              </a:r>
            </a:p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• Occupation</a:t>
              </a:r>
            </a:p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significantly influence a person's overall health </a:t>
              </a:r>
            </a:p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and well-being.</a:t>
              </a:r>
            </a:p>
            <a:p>
              <a:pPr algn="just">
                <a:lnSpc>
                  <a:spcPts val="4500"/>
                </a:lnSpc>
              </a:pPr>
            </a:p>
            <a:p>
              <a:pPr algn="just">
                <a:lnSpc>
                  <a:spcPts val="4500"/>
                </a:lnSpc>
              </a:pPr>
              <a:r>
                <a:rPr lang="en-US" sz="3000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Key Question:</a:t>
              </a:r>
            </a:p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How do sleep, stress, physical activity,</a:t>
              </a:r>
            </a:p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BMI and occupation influence a person's</a:t>
              </a:r>
            </a:p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overall lifestyle and health?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458491" y="1444314"/>
            <a:ext cx="7579201" cy="7343582"/>
          </a:xfrm>
          <a:custGeom>
            <a:avLst/>
            <a:gdLst/>
            <a:ahLst/>
            <a:cxnLst/>
            <a:rect r="r" b="b" t="t" l="l"/>
            <a:pathLst>
              <a:path h="7343582" w="7579201">
                <a:moveTo>
                  <a:pt x="0" y="0"/>
                </a:moveTo>
                <a:lnTo>
                  <a:pt x="7579201" y="0"/>
                </a:lnTo>
                <a:lnTo>
                  <a:pt x="7579201" y="7343582"/>
                </a:lnTo>
                <a:lnTo>
                  <a:pt x="0" y="7343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16" t="-3789" r="-9206" b="-453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81063" y="8580873"/>
            <a:ext cx="1354855" cy="1354855"/>
          </a:xfrm>
          <a:custGeom>
            <a:avLst/>
            <a:gdLst/>
            <a:ahLst/>
            <a:cxnLst/>
            <a:rect r="r" b="b" t="t" l="l"/>
            <a:pathLst>
              <a:path h="1354855" w="1354855">
                <a:moveTo>
                  <a:pt x="0" y="0"/>
                </a:moveTo>
                <a:lnTo>
                  <a:pt x="1354855" y="0"/>
                </a:lnTo>
                <a:lnTo>
                  <a:pt x="1354855" y="1354854"/>
                </a:lnTo>
                <a:lnTo>
                  <a:pt x="0" y="135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15532" y="1028700"/>
            <a:ext cx="10106050" cy="8699020"/>
            <a:chOff x="0" y="0"/>
            <a:chExt cx="13474734" cy="115986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9050"/>
              <a:ext cx="13474734" cy="825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59"/>
                </a:lnSpc>
              </a:pPr>
              <a:r>
                <a:rPr lang="en-US" sz="39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PROPOSED SOLUTION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30693"/>
              <a:ext cx="10704624" cy="1066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50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To solve this problem, a Lifestyle Dynamics Framework was d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eveloped that: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Analyzes sleep, stress, physical activity, BMI and health data.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Identifies relationships between lifestyle factors using statistical analysis.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Uses Machine Learning (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K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-M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ans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Cl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ust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er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ng) t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group individuals with similar lifestyle patterns.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Detects high-risk individuals and people with sleep disorders.</a:t>
              </a:r>
            </a:p>
            <a:p>
              <a:pPr algn="l" marL="647700" indent="-323850" lvl="1">
                <a:lnSpc>
                  <a:spcPts val="450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Generates personalized lifestyle recommendations.</a:t>
              </a:r>
            </a:p>
            <a:p>
              <a:pPr algn="just">
                <a:lnSpc>
                  <a:spcPts val="45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571150" y="1028700"/>
            <a:ext cx="8053942" cy="8060826"/>
          </a:xfrm>
          <a:custGeom>
            <a:avLst/>
            <a:gdLst/>
            <a:ahLst/>
            <a:cxnLst/>
            <a:rect r="r" b="b" t="t" l="l"/>
            <a:pathLst>
              <a:path h="8060826" w="8053942">
                <a:moveTo>
                  <a:pt x="0" y="0"/>
                </a:moveTo>
                <a:lnTo>
                  <a:pt x="8053941" y="0"/>
                </a:lnTo>
                <a:lnTo>
                  <a:pt x="8053941" y="8060826"/>
                </a:lnTo>
                <a:lnTo>
                  <a:pt x="0" y="8060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00" t="-17323" r="0" b="-399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84048" y="8897110"/>
            <a:ext cx="1170740" cy="1170740"/>
          </a:xfrm>
          <a:custGeom>
            <a:avLst/>
            <a:gdLst/>
            <a:ahLst/>
            <a:cxnLst/>
            <a:rect r="r" b="b" t="t" l="l"/>
            <a:pathLst>
              <a:path h="1170740" w="1170740">
                <a:moveTo>
                  <a:pt x="0" y="0"/>
                </a:moveTo>
                <a:lnTo>
                  <a:pt x="1170740" y="0"/>
                </a:lnTo>
                <a:lnTo>
                  <a:pt x="1170740" y="1170739"/>
                </a:lnTo>
                <a:lnTo>
                  <a:pt x="0" y="11707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765686" cy="765686"/>
          </a:xfrm>
          <a:custGeom>
            <a:avLst/>
            <a:gdLst/>
            <a:ahLst/>
            <a:cxnLst/>
            <a:rect r="r" b="b" t="t" l="l"/>
            <a:pathLst>
              <a:path h="765686" w="765686">
                <a:moveTo>
                  <a:pt x="0" y="0"/>
                </a:moveTo>
                <a:lnTo>
                  <a:pt x="765686" y="0"/>
                </a:lnTo>
                <a:lnTo>
                  <a:pt x="765686" y="765686"/>
                </a:lnTo>
                <a:lnTo>
                  <a:pt x="0" y="765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2822" y="5563235"/>
            <a:ext cx="14822355" cy="4342765"/>
          </a:xfrm>
          <a:custGeom>
            <a:avLst/>
            <a:gdLst/>
            <a:ahLst/>
            <a:cxnLst/>
            <a:rect r="r" b="b" t="t" l="l"/>
            <a:pathLst>
              <a:path h="4342765" w="14822355">
                <a:moveTo>
                  <a:pt x="0" y="0"/>
                </a:moveTo>
                <a:lnTo>
                  <a:pt x="14822356" y="0"/>
                </a:lnTo>
                <a:lnTo>
                  <a:pt x="14822356" y="4342765"/>
                </a:lnTo>
                <a:lnTo>
                  <a:pt x="0" y="4342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27" r="0" b="-212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222615"/>
            <a:ext cx="6272943" cy="4121545"/>
            <a:chOff x="0" y="0"/>
            <a:chExt cx="8363924" cy="549539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"/>
              <a:ext cx="7994070" cy="825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59"/>
                </a:lnSpc>
              </a:pPr>
              <a:r>
                <a:rPr lang="en-US" sz="39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Dataset Information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73583"/>
              <a:ext cx="8363924" cy="4321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9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📊 Dataset Name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: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Sleep Health and Lifestyle Dataset</a:t>
              </a:r>
            </a:p>
            <a:p>
              <a:pPr algn="just">
                <a:lnSpc>
                  <a:spcPts val="519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👥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T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tal Records: 374 Individuals</a:t>
              </a:r>
            </a:p>
            <a:p>
              <a:pPr algn="just">
                <a:lnSpc>
                  <a:spcPts val="519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📋 Total Features: 13 Columns</a:t>
              </a:r>
            </a:p>
            <a:p>
              <a:pPr algn="just">
                <a:lnSpc>
                  <a:spcPts val="519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1222615"/>
            <a:ext cx="8115300" cy="3896515"/>
            <a:chOff x="0" y="0"/>
            <a:chExt cx="10820400" cy="519535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514477" y="-19050"/>
              <a:ext cx="7480258" cy="8259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59"/>
                </a:lnSpc>
              </a:pPr>
              <a:r>
                <a:rPr lang="en-US" sz="39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Key Features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873543"/>
              <a:ext cx="10820400" cy="4321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Sleep →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Duration, 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Qu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ality, Disorder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Health → BMI, 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eart Rate, B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lood Pressure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Lifestyle → Physical Activity, Daily Steps,                                                                                  Stress Level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Personal → Age, Gender, Occupation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202712" y="379335"/>
            <a:ext cx="5569517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 OVERVIEW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86164" y="1513429"/>
            <a:ext cx="9916224" cy="8296282"/>
            <a:chOff x="0" y="0"/>
            <a:chExt cx="13221632" cy="110617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47629" cy="6459645"/>
            </a:xfrm>
            <a:custGeom>
              <a:avLst/>
              <a:gdLst/>
              <a:ahLst/>
              <a:cxnLst/>
              <a:rect r="r" b="b" t="t" l="l"/>
              <a:pathLst>
                <a:path h="6459645" w="6547629">
                  <a:moveTo>
                    <a:pt x="0" y="0"/>
                  </a:moveTo>
                  <a:lnTo>
                    <a:pt x="6547629" y="0"/>
                  </a:lnTo>
                  <a:lnTo>
                    <a:pt x="6547629" y="6459645"/>
                  </a:lnTo>
                  <a:lnTo>
                    <a:pt x="0" y="6459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476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7020223"/>
              <a:ext cx="13221632" cy="4041486"/>
            </a:xfrm>
            <a:custGeom>
              <a:avLst/>
              <a:gdLst/>
              <a:ahLst/>
              <a:cxnLst/>
              <a:rect r="r" b="b" t="t" l="l"/>
              <a:pathLst>
                <a:path h="4041486" w="13221632">
                  <a:moveTo>
                    <a:pt x="0" y="0"/>
                  </a:moveTo>
                  <a:lnTo>
                    <a:pt x="13221632" y="0"/>
                  </a:lnTo>
                  <a:lnTo>
                    <a:pt x="13221632" y="4041486"/>
                  </a:lnTo>
                  <a:lnTo>
                    <a:pt x="0" y="40414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194552" y="0"/>
              <a:ext cx="6027079" cy="6459645"/>
            </a:xfrm>
            <a:custGeom>
              <a:avLst/>
              <a:gdLst/>
              <a:ahLst/>
              <a:cxnLst/>
              <a:rect r="r" b="b" t="t" l="l"/>
              <a:pathLst>
                <a:path h="6459645" w="6027079">
                  <a:moveTo>
                    <a:pt x="0" y="0"/>
                  </a:moveTo>
                  <a:lnTo>
                    <a:pt x="6027080" y="0"/>
                  </a:lnTo>
                  <a:lnTo>
                    <a:pt x="6027080" y="6459645"/>
                  </a:lnTo>
                  <a:lnTo>
                    <a:pt x="0" y="6459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284878" y="271542"/>
            <a:ext cx="9718245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CLEANING &amp; 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6405" y="838200"/>
            <a:ext cx="7695371" cy="9754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68"/>
              </a:lnSpc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📂 Data Loading</a:t>
            </a:r>
          </a:p>
          <a:p>
            <a:pPr algn="just" marL="607565" indent="-303783" lvl="1">
              <a:lnSpc>
                <a:spcPts val="4868"/>
              </a:lnSpc>
              <a:buFont typeface="Arial"/>
              <a:buChar char="•"/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Loaded 374 records and 13 features</a:t>
            </a:r>
          </a:p>
          <a:p>
            <a:pPr algn="just">
              <a:lnSpc>
                <a:spcPts val="4868"/>
              </a:lnSpc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🔍 Missing Value Check</a:t>
            </a:r>
          </a:p>
          <a:p>
            <a:pPr algn="just" marL="607565" indent="-303783" lvl="1">
              <a:lnSpc>
                <a:spcPts val="4868"/>
              </a:lnSpc>
              <a:buFont typeface="Arial"/>
              <a:buChar char="•"/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Checked all columns</a:t>
            </a: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null values</a:t>
            </a:r>
          </a:p>
          <a:p>
            <a:pPr algn="just" marL="607565" indent="-303783" lvl="1">
              <a:lnSpc>
                <a:spcPts val="4868"/>
              </a:lnSpc>
              <a:buFont typeface="Arial"/>
              <a:buChar char="•"/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Sleep Disorder column contained missing </a:t>
            </a:r>
          </a:p>
          <a:p>
            <a:pPr algn="just">
              <a:lnSpc>
                <a:spcPts val="4868"/>
              </a:lnSpc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</a:t>
            </a: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values</a:t>
            </a:r>
          </a:p>
          <a:p>
            <a:pPr algn="just">
              <a:lnSpc>
                <a:spcPts val="4868"/>
              </a:lnSpc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🛠 Missing Value Handling</a:t>
            </a:r>
          </a:p>
          <a:p>
            <a:pPr algn="just" marL="607565" indent="-303783" lvl="1">
              <a:lnSpc>
                <a:spcPts val="4868"/>
              </a:lnSpc>
              <a:buFont typeface="Arial"/>
              <a:buChar char="•"/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Replaced missing values in Sleep Disorder </a:t>
            </a:r>
          </a:p>
          <a:p>
            <a:pPr algn="just">
              <a:lnSpc>
                <a:spcPts val="4868"/>
              </a:lnSpc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</a:t>
            </a: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with "None"</a:t>
            </a:r>
          </a:p>
          <a:p>
            <a:pPr algn="just">
              <a:lnSpc>
                <a:spcPts val="4868"/>
              </a:lnSpc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🔄 Duplicate Check</a:t>
            </a:r>
          </a:p>
          <a:p>
            <a:pPr algn="just" marL="604519" indent="-302260" lvl="1">
              <a:lnSpc>
                <a:spcPts val="4843"/>
              </a:lnSpc>
              <a:buFont typeface="Arial"/>
              <a:buChar char="•"/>
            </a:pPr>
            <a:r>
              <a:rPr lang="en-US" sz="2799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Verified</a:t>
            </a:r>
            <a:r>
              <a:rPr lang="en-US" sz="2799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da</a:t>
            </a:r>
            <a:r>
              <a:rPr lang="en-US" sz="2799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taset for duplicate records</a:t>
            </a:r>
          </a:p>
          <a:p>
            <a:pPr algn="just" marL="607565" indent="-303783" lvl="1">
              <a:lnSpc>
                <a:spcPts val="4868"/>
              </a:lnSpc>
              <a:buFont typeface="Arial"/>
              <a:buChar char="•"/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significant duplicate entries found</a:t>
            </a:r>
          </a:p>
          <a:p>
            <a:pPr algn="just">
              <a:lnSpc>
                <a:spcPts val="4868"/>
              </a:lnSpc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📊 Data</a:t>
            </a: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Type Verification</a:t>
            </a:r>
          </a:p>
          <a:p>
            <a:pPr algn="just" marL="607565" indent="-303783" lvl="1">
              <a:lnSpc>
                <a:spcPts val="4868"/>
              </a:lnSpc>
              <a:buFont typeface="Arial"/>
              <a:buChar char="•"/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Checked numerical and categorical features</a:t>
            </a:r>
          </a:p>
          <a:p>
            <a:pPr algn="just" marL="607565" indent="-303783" lvl="1">
              <a:lnSpc>
                <a:spcPts val="4868"/>
              </a:lnSpc>
              <a:buFont typeface="Arial"/>
              <a:buChar char="•"/>
            </a:pPr>
            <a:r>
              <a:rPr lang="en-US" sz="2814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Ensured correct data formats</a:t>
            </a:r>
          </a:p>
          <a:p>
            <a:pPr algn="just">
              <a:lnSpc>
                <a:spcPts val="486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77837" y="1607820"/>
            <a:ext cx="5971802" cy="4090200"/>
          </a:xfrm>
          <a:custGeom>
            <a:avLst/>
            <a:gdLst/>
            <a:ahLst/>
            <a:cxnLst/>
            <a:rect r="r" b="b" t="t" l="l"/>
            <a:pathLst>
              <a:path h="4090200" w="5971802">
                <a:moveTo>
                  <a:pt x="0" y="0"/>
                </a:moveTo>
                <a:lnTo>
                  <a:pt x="5971802" y="0"/>
                </a:lnTo>
                <a:lnTo>
                  <a:pt x="5971802" y="4090200"/>
                </a:lnTo>
                <a:lnTo>
                  <a:pt x="0" y="409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" r="-818" b="-4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77837" y="6215424"/>
            <a:ext cx="5971802" cy="3939606"/>
          </a:xfrm>
          <a:custGeom>
            <a:avLst/>
            <a:gdLst/>
            <a:ahLst/>
            <a:cxnLst/>
            <a:rect r="r" b="b" t="t" l="l"/>
            <a:pathLst>
              <a:path h="3939606" w="5971802">
                <a:moveTo>
                  <a:pt x="0" y="0"/>
                </a:moveTo>
                <a:lnTo>
                  <a:pt x="5971802" y="0"/>
                </a:lnTo>
                <a:lnTo>
                  <a:pt x="5971802" y="3939606"/>
                </a:lnTo>
                <a:lnTo>
                  <a:pt x="0" y="3939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05" t="-1367" r="-1245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0101" y="4413276"/>
            <a:ext cx="8441183" cy="5741753"/>
          </a:xfrm>
          <a:custGeom>
            <a:avLst/>
            <a:gdLst/>
            <a:ahLst/>
            <a:cxnLst/>
            <a:rect r="r" b="b" t="t" l="l"/>
            <a:pathLst>
              <a:path h="5741753" w="8441183">
                <a:moveTo>
                  <a:pt x="0" y="0"/>
                </a:moveTo>
                <a:lnTo>
                  <a:pt x="8441182" y="0"/>
                </a:lnTo>
                <a:lnTo>
                  <a:pt x="8441182" y="5741754"/>
                </a:lnTo>
                <a:lnTo>
                  <a:pt x="0" y="5741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454" r="0" b="-145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89251" y="171793"/>
            <a:ext cx="9956188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EXPLORATORY DATA ANALYSIS (EDA)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84175" y="710273"/>
            <a:ext cx="4387795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0"/>
              </a:lnSpc>
            </a:pPr>
            <a:r>
              <a:rPr lang="en-US" sz="3000" b="true">
                <a:solidFill>
                  <a:srgbClr val="F4F4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Sleep Qu</a:t>
            </a:r>
            <a:r>
              <a:rPr lang="en-US" sz="3000" b="true">
                <a:solidFill>
                  <a:srgbClr val="F4F4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ality Distribution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88027" y="1028700"/>
            <a:ext cx="6854522" cy="3006090"/>
            <a:chOff x="0" y="0"/>
            <a:chExt cx="9139362" cy="400812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587564" y="-209550"/>
              <a:ext cx="3960779" cy="81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90"/>
                </a:lnSpc>
              </a:pPr>
              <a:r>
                <a:rPr lang="en-US" sz="3000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Major In</a:t>
              </a:r>
              <a:r>
                <a:rPr lang="en-US" sz="3000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sights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62610"/>
              <a:ext cx="9139362" cy="3445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Stress ↑ →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Sleep Quality ↓</a:t>
              </a:r>
            </a:p>
            <a:p>
              <a:pPr algn="just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Sleep disorders tends to poor health</a:t>
              </a:r>
            </a:p>
            <a:p>
              <a:pPr algn="just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Physical activity improves sleep</a:t>
              </a:r>
            </a:p>
            <a:p>
              <a:pPr algn="just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BMI influences sleep patterns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451541" y="5488470"/>
            <a:ext cx="4387795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0"/>
              </a:lnSpc>
            </a:pPr>
            <a:r>
              <a:rPr lang="en-US" sz="3000" b="true">
                <a:solidFill>
                  <a:srgbClr val="F4F4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Stress Leve</a:t>
            </a:r>
            <a:r>
              <a:rPr lang="en-US" sz="3000" b="true">
                <a:solidFill>
                  <a:srgbClr val="F4F4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74686" y="3121893"/>
            <a:ext cx="5415599" cy="3029808"/>
          </a:xfrm>
          <a:custGeom>
            <a:avLst/>
            <a:gdLst/>
            <a:ahLst/>
            <a:cxnLst/>
            <a:rect r="r" b="b" t="t" l="l"/>
            <a:pathLst>
              <a:path h="3029808" w="5415599">
                <a:moveTo>
                  <a:pt x="0" y="0"/>
                </a:moveTo>
                <a:lnTo>
                  <a:pt x="5415599" y="0"/>
                </a:lnTo>
                <a:lnTo>
                  <a:pt x="5415599" y="3029809"/>
                </a:lnTo>
                <a:lnTo>
                  <a:pt x="0" y="30298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38467" y="6635629"/>
            <a:ext cx="17405079" cy="3459053"/>
            <a:chOff x="0" y="0"/>
            <a:chExt cx="23206772" cy="46120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725280"/>
              <a:ext cx="9501044" cy="3886791"/>
            </a:xfrm>
            <a:custGeom>
              <a:avLst/>
              <a:gdLst/>
              <a:ahLst/>
              <a:cxnLst/>
              <a:rect r="r" b="b" t="t" l="l"/>
              <a:pathLst>
                <a:path h="3886791" w="9501044">
                  <a:moveTo>
                    <a:pt x="0" y="0"/>
                  </a:moveTo>
                  <a:lnTo>
                    <a:pt x="9501044" y="0"/>
                  </a:lnTo>
                  <a:lnTo>
                    <a:pt x="9501044" y="3886791"/>
                  </a:lnTo>
                  <a:lnTo>
                    <a:pt x="0" y="3886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872066" y="722266"/>
              <a:ext cx="7441908" cy="3871647"/>
            </a:xfrm>
            <a:custGeom>
              <a:avLst/>
              <a:gdLst/>
              <a:ahLst/>
              <a:cxnLst/>
              <a:rect r="r" b="b" t="t" l="l"/>
              <a:pathLst>
                <a:path h="3871647" w="7441908">
                  <a:moveTo>
                    <a:pt x="0" y="0"/>
                  </a:moveTo>
                  <a:lnTo>
                    <a:pt x="7441908" y="0"/>
                  </a:lnTo>
                  <a:lnTo>
                    <a:pt x="7441908" y="3871646"/>
                  </a:lnTo>
                  <a:lnTo>
                    <a:pt x="0" y="38716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7613347" y="0"/>
              <a:ext cx="5593425" cy="4593912"/>
            </a:xfrm>
            <a:custGeom>
              <a:avLst/>
              <a:gdLst/>
              <a:ahLst/>
              <a:cxnLst/>
              <a:rect r="r" b="b" t="t" l="l"/>
              <a:pathLst>
                <a:path h="4593912" w="5593425">
                  <a:moveTo>
                    <a:pt x="0" y="0"/>
                  </a:moveTo>
                  <a:lnTo>
                    <a:pt x="5593425" y="0"/>
                  </a:lnTo>
                  <a:lnTo>
                    <a:pt x="5593425" y="4593912"/>
                  </a:lnTo>
                  <a:lnTo>
                    <a:pt x="0" y="4593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849675" y="194945"/>
            <a:ext cx="6588649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STATISTICAL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8467" y="788314"/>
            <a:ext cx="12517607" cy="618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5400"/>
              </a:lnSpc>
              <a:buAutoNum type="arabicPeriod" startAt="1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Sleep Quality and Stress Level showed the strongest relationship (-0.899).</a:t>
            </a:r>
          </a:p>
          <a:p>
            <a:pPr algn="l" marL="647700" indent="-323850" lvl="1">
              <a:lnSpc>
                <a:spcPts val="5400"/>
              </a:lnSpc>
              <a:buAutoNum type="arabicPeriod" startAt="1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Sleep Duration is negatively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associated with Stress Level (-0.811).</a:t>
            </a:r>
          </a:p>
          <a:p>
            <a:pPr algn="l" marL="647700" indent="-323850" lvl="1">
              <a:lnSpc>
                <a:spcPts val="5400"/>
              </a:lnSpc>
              <a:buAutoNum type="arabicPeriod" startAt="1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Physical Activity shows a weak positive relationship with Sleep Quality (+0.193)</a:t>
            </a:r>
          </a:p>
          <a:p>
            <a:pPr algn="l" marL="647700" indent="-323850" lvl="1">
              <a:lnSpc>
                <a:spcPts val="5400"/>
              </a:lnSpc>
              <a:buAutoNum type="arabicPeriod" startAt="1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OVA results indicate significant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differences in sleep quality across occupations.</a:t>
            </a:r>
          </a:p>
          <a:p>
            <a:pPr algn="l" marL="647700" indent="-323850" lvl="1">
              <a:lnSpc>
                <a:spcPts val="5400"/>
              </a:lnSpc>
              <a:buAutoNum type="arabicPeriod" startAt="1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Overweight and obese individuals are more likely to experience sleep disorders.</a:t>
            </a:r>
          </a:p>
          <a:p>
            <a:pPr algn="l" marL="647700" indent="-323850" lvl="1">
              <a:lnSpc>
                <a:spcPts val="5400"/>
              </a:lnSpc>
              <a:buAutoNum type="arabicPeriod" startAt="1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Sleep health is a major indicator of overall lifestyle quality.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00588" y="1028700"/>
            <a:ext cx="9146131" cy="9064911"/>
            <a:chOff x="0" y="0"/>
            <a:chExt cx="12194841" cy="120865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24550" y="0"/>
              <a:ext cx="11470292" cy="7799799"/>
            </a:xfrm>
            <a:custGeom>
              <a:avLst/>
              <a:gdLst/>
              <a:ahLst/>
              <a:cxnLst/>
              <a:rect r="r" b="b" t="t" l="l"/>
              <a:pathLst>
                <a:path h="7799799" w="11470292">
                  <a:moveTo>
                    <a:pt x="0" y="0"/>
                  </a:moveTo>
                  <a:lnTo>
                    <a:pt x="11470291" y="0"/>
                  </a:lnTo>
                  <a:lnTo>
                    <a:pt x="11470291" y="7799799"/>
                  </a:lnTo>
                  <a:lnTo>
                    <a:pt x="0" y="7799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8195161"/>
              <a:ext cx="12194841" cy="3891388"/>
            </a:xfrm>
            <a:custGeom>
              <a:avLst/>
              <a:gdLst/>
              <a:ahLst/>
              <a:cxnLst/>
              <a:rect r="r" b="b" t="t" l="l"/>
              <a:pathLst>
                <a:path h="3891388" w="12194841">
                  <a:moveTo>
                    <a:pt x="0" y="0"/>
                  </a:moveTo>
                  <a:lnTo>
                    <a:pt x="12194841" y="0"/>
                  </a:lnTo>
                  <a:lnTo>
                    <a:pt x="12194841" y="3891388"/>
                  </a:lnTo>
                  <a:lnTo>
                    <a:pt x="0" y="3891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224739" y="252095"/>
            <a:ext cx="11898342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LIFESTYLE SEGMENTATION USING K-MEANS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6944" y="1181100"/>
            <a:ext cx="8610483" cy="8512728"/>
            <a:chOff x="0" y="0"/>
            <a:chExt cx="11480644" cy="1135030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362341" y="-209550"/>
              <a:ext cx="5856103" cy="81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90"/>
                </a:lnSpc>
              </a:pPr>
              <a:r>
                <a:rPr lang="en-US" sz="3000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Why K-Means Clu</a:t>
              </a:r>
              <a:r>
                <a:rPr lang="en-US" sz="3000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stering ?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00710"/>
              <a:ext cx="11480644" cy="4321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Unsupervised Machine Learning Algorithm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Used to identify hidden lifestyle patterns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Groups individuals with similar health and lifestyle characteristics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Helps create meaningful lifestyle segments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362341" y="5341934"/>
              <a:ext cx="5856103" cy="816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90"/>
                </a:lnSpc>
              </a:pPr>
              <a:r>
                <a:rPr lang="en-US" sz="3000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Features U</a:t>
              </a:r>
              <a:r>
                <a:rPr lang="en-US" sz="3000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sed: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152194"/>
              <a:ext cx="9808300" cy="5198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Sleep Duration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Quality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of Sleep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Physical Activity Level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Stress Level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Heart Rate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Daily Steps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17579" y="3655607"/>
            <a:ext cx="9841256" cy="6212293"/>
          </a:xfrm>
          <a:custGeom>
            <a:avLst/>
            <a:gdLst/>
            <a:ahLst/>
            <a:cxnLst/>
            <a:rect r="r" b="b" t="t" l="l"/>
            <a:pathLst>
              <a:path h="6212293" w="9841256">
                <a:moveTo>
                  <a:pt x="0" y="0"/>
                </a:moveTo>
                <a:lnTo>
                  <a:pt x="9841256" y="0"/>
                </a:lnTo>
                <a:lnTo>
                  <a:pt x="9841256" y="6212293"/>
                </a:lnTo>
                <a:lnTo>
                  <a:pt x="0" y="6212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82147" y="212799"/>
            <a:ext cx="8323706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LIFESTYLE CLUSTER PROFILES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96430" y="1160257"/>
            <a:ext cx="6810167" cy="8707643"/>
            <a:chOff x="0" y="0"/>
            <a:chExt cx="9080222" cy="1161019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200025"/>
              <a:ext cx="8684980" cy="4012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43"/>
                </a:lnSpc>
              </a:pPr>
              <a:r>
                <a:rPr lang="en-US" sz="2799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Optimal Lifestyle: 239 Individuals (63.9%)</a:t>
              </a:r>
            </a:p>
            <a:p>
              <a:pPr algn="l">
                <a:lnSpc>
                  <a:spcPts val="4843"/>
                </a:lnSpc>
              </a:pP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✔ Good Sleep Quality</a:t>
              </a:r>
            </a:p>
            <a:p>
              <a:pPr algn="l">
                <a:lnSpc>
                  <a:spcPts val="4843"/>
                </a:lnSpc>
              </a:pP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✔ 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Healthy Activity L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evel</a:t>
              </a:r>
            </a:p>
            <a:p>
              <a:pPr algn="l">
                <a:lnSpc>
                  <a:spcPts val="4843"/>
                </a:lnSpc>
              </a:pP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✔ 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Low Stress</a:t>
              </a:r>
            </a:p>
            <a:p>
              <a:pPr algn="l">
                <a:lnSpc>
                  <a:spcPts val="4843"/>
                </a:lnSpc>
              </a:pP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✔ 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Balanced Lifestyle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043688"/>
              <a:ext cx="8684980" cy="3199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43"/>
                </a:lnSpc>
              </a:pPr>
              <a:r>
                <a:rPr lang="en-US" sz="2799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Active but Stressed: 34 Individuals (9.1%)</a:t>
              </a:r>
            </a:p>
            <a:p>
              <a:pPr algn="l">
                <a:lnSpc>
                  <a:spcPts val="4843"/>
                </a:lnSpc>
              </a:pP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✔ 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Active Lifestyle</a:t>
              </a:r>
            </a:p>
            <a:p>
              <a:pPr algn="l">
                <a:lnSpc>
                  <a:spcPts val="4843"/>
                </a:lnSpc>
              </a:pP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 ✔ Good D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aily St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eps</a:t>
              </a:r>
            </a:p>
            <a:p>
              <a:pPr algn="l">
                <a:lnSpc>
                  <a:spcPts val="4843"/>
                </a:lnSpc>
              </a:pP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❌ High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Stress Despite High Activity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7597457"/>
              <a:ext cx="9080222" cy="4012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43"/>
                </a:lnSpc>
              </a:pPr>
              <a:r>
                <a:rPr lang="en-US" sz="2799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High Risk Lifestyle: 101 Individuals (27.0%)</a:t>
              </a:r>
            </a:p>
            <a:p>
              <a:pPr algn="l">
                <a:lnSpc>
                  <a:spcPts val="4843"/>
                </a:lnSpc>
              </a:pP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❌ Poor Sle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ep Quality</a:t>
              </a:r>
            </a:p>
            <a:p>
              <a:pPr algn="l">
                <a:lnSpc>
                  <a:spcPts val="4843"/>
                </a:lnSpc>
              </a:pP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❌ Low Physical Activ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ity</a:t>
              </a:r>
            </a:p>
            <a:p>
              <a:pPr algn="l">
                <a:lnSpc>
                  <a:spcPts val="4843"/>
                </a:lnSpc>
              </a:pP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❌ High</a:t>
              </a: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Stress Level</a:t>
              </a:r>
            </a:p>
            <a:p>
              <a:pPr algn="l">
                <a:lnSpc>
                  <a:spcPts val="4843"/>
                </a:lnSpc>
              </a:pPr>
              <a:r>
                <a:rPr lang="en-US" sz="2799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❌ Unhealthy Lifestyle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521226" y="985069"/>
            <a:ext cx="7831318" cy="2341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7"/>
              </a:lnSpc>
            </a:pPr>
            <a:r>
              <a:rPr lang="en-US" sz="27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Insights:</a:t>
            </a:r>
          </a:p>
          <a:p>
            <a:pPr algn="l" marL="604519" indent="-302260" lvl="1">
              <a:lnSpc>
                <a:spcPts val="4647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</a:t>
            </a:r>
            <a:r>
              <a:rPr lang="en-US" sz="27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ajority have an Optimal Lifestyle.</a:t>
            </a:r>
          </a:p>
          <a:p>
            <a:pPr algn="l" marL="604519" indent="-302260" lvl="1">
              <a:lnSpc>
                <a:spcPts val="464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Stress is linked to unhealthy lifestyles.</a:t>
            </a:r>
          </a:p>
          <a:p>
            <a:pPr algn="l" marL="604519" indent="-302260" lvl="1">
              <a:lnSpc>
                <a:spcPts val="4647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Sleep and Activity drive lifestyle patterns.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45255" y="4887255"/>
            <a:ext cx="10047390" cy="4069193"/>
          </a:xfrm>
          <a:custGeom>
            <a:avLst/>
            <a:gdLst/>
            <a:ahLst/>
            <a:cxnLst/>
            <a:rect r="r" b="b" t="t" l="l"/>
            <a:pathLst>
              <a:path h="4069193" w="10047390">
                <a:moveTo>
                  <a:pt x="0" y="0"/>
                </a:moveTo>
                <a:lnTo>
                  <a:pt x="10047389" y="0"/>
                </a:lnTo>
                <a:lnTo>
                  <a:pt x="10047389" y="4069193"/>
                </a:lnTo>
                <a:lnTo>
                  <a:pt x="0" y="4069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72945" y="128478"/>
            <a:ext cx="1064982" cy="1064982"/>
          </a:xfrm>
          <a:custGeom>
            <a:avLst/>
            <a:gdLst/>
            <a:ahLst/>
            <a:cxnLst/>
            <a:rect r="r" b="b" t="t" l="l"/>
            <a:pathLst>
              <a:path h="1064982" w="1064982">
                <a:moveTo>
                  <a:pt x="0" y="0"/>
                </a:moveTo>
                <a:lnTo>
                  <a:pt x="1064981" y="0"/>
                </a:lnTo>
                <a:lnTo>
                  <a:pt x="1064981" y="1064982"/>
                </a:lnTo>
                <a:lnTo>
                  <a:pt x="0" y="1064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67273" y="404495"/>
            <a:ext cx="13153453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PERSONALIZED LIFESTYLE RECOMMENDATIONS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1288710"/>
            <a:ext cx="7928945" cy="329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0"/>
              </a:lnSpc>
            </a:pPr>
            <a:r>
              <a:rPr lang="en-US" sz="3000" b="true">
                <a:solidFill>
                  <a:srgbClr val="F4F4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🟡 Active but Stressed</a:t>
            </a:r>
          </a:p>
          <a:p>
            <a:pPr algn="just">
              <a:lnSpc>
                <a:spcPts val="5190"/>
              </a:lnSpc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Recommendation:</a:t>
            </a:r>
          </a:p>
          <a:p>
            <a:pPr algn="just" marL="647700" indent="-323850" lvl="1">
              <a:lnSpc>
                <a:spcPts val="519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uce stress levels</a:t>
            </a:r>
          </a:p>
          <a:p>
            <a:pPr algn="just" marL="647700" indent="-323850" lvl="1">
              <a:lnSpc>
                <a:spcPts val="519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Practice medita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tion &amp; r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elaxation techniques</a:t>
            </a:r>
          </a:p>
          <a:p>
            <a:pPr algn="just" marL="647700" indent="-323850" lvl="1">
              <a:lnSpc>
                <a:spcPts val="519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ove recovery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and sleep quality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15320" y="1498260"/>
            <a:ext cx="6727351" cy="7152603"/>
            <a:chOff x="0" y="0"/>
            <a:chExt cx="8969802" cy="953680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09550"/>
              <a:ext cx="8684980" cy="4321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90"/>
                </a:lnSpc>
              </a:pPr>
              <a:r>
                <a:rPr lang="en-US" sz="3000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🟢 Optimal Lifestyle</a:t>
              </a:r>
            </a:p>
            <a:p>
              <a:pPr algn="l">
                <a:lnSpc>
                  <a:spcPts val="519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Recommendation: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Maintain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current sleep habits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Continue r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egular exercise</a:t>
              </a:r>
            </a:p>
            <a:p>
              <a:pPr algn="l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Maintain 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low stress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levels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214995"/>
              <a:ext cx="8969802" cy="4321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90"/>
                </a:lnSpc>
              </a:pPr>
              <a:r>
                <a:rPr lang="en-US" sz="3000" b="true">
                  <a:solidFill>
                    <a:srgbClr val="F4F4F4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🔴 High Risk Lifestyle</a:t>
              </a:r>
            </a:p>
            <a:p>
              <a:pPr algn="just">
                <a:lnSpc>
                  <a:spcPts val="5190"/>
                </a:lnSpc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Recommendation:</a:t>
              </a:r>
            </a:p>
            <a:p>
              <a:pPr algn="just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crease physical activity</a:t>
              </a:r>
            </a:p>
            <a:p>
              <a:pPr algn="just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Improve sleep dura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tion &amp; qua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lity</a:t>
              </a:r>
            </a:p>
            <a:p>
              <a:pPr algn="just" marL="647700" indent="-323850" lvl="1">
                <a:lnSpc>
                  <a:spcPts val="5190"/>
                </a:lnSpc>
                <a:buFont typeface="Arial"/>
                <a:buChar char="•"/>
              </a:pP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Reduce st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ess through</a:t>
              </a:r>
              <a:r>
                <a:rPr lang="en-US" sz="3000">
                  <a:solidFill>
                    <a:srgbClr val="F4F4F4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healthy habits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15320" y="9048750"/>
            <a:ext cx="17077324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90"/>
              </a:lnSpc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💡Personalized recommendation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 help individuals movefr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om high-risk 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lifestyl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 toward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healthier habits.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82095" y="8629970"/>
            <a:ext cx="1256660" cy="1256660"/>
          </a:xfrm>
          <a:custGeom>
            <a:avLst/>
            <a:gdLst/>
            <a:ahLst/>
            <a:cxnLst/>
            <a:rect r="r" b="b" t="t" l="l"/>
            <a:pathLst>
              <a:path h="1256660" w="1256660">
                <a:moveTo>
                  <a:pt x="0" y="0"/>
                </a:moveTo>
                <a:lnTo>
                  <a:pt x="1256660" y="0"/>
                </a:lnTo>
                <a:lnTo>
                  <a:pt x="1256660" y="1256660"/>
                </a:lnTo>
                <a:lnTo>
                  <a:pt x="0" y="1256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84035" y="404495"/>
            <a:ext cx="8719931" cy="62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999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CONCLUSIONS &amp; FUTURE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3213" y="1247775"/>
            <a:ext cx="7750256" cy="8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00"/>
              </a:lnSpc>
            </a:pPr>
            <a:r>
              <a:rPr lang="en-US" sz="3000" b="true">
                <a:solidFill>
                  <a:srgbClr val="F4F4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Find</a:t>
            </a:r>
            <a:r>
              <a:rPr lang="en-US" sz="3000" b="true">
                <a:solidFill>
                  <a:srgbClr val="F4F4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ings</a:t>
            </a:r>
          </a:p>
          <a:p>
            <a:pPr algn="just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Sleep Quality has the strongest relationship with Stress Level (r = -0.899)</a:t>
            </a:r>
          </a:p>
          <a:p>
            <a:pPr algn="just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Longer Sleep Duration is associated with lower Stress (r = -0.811)</a:t>
            </a:r>
          </a:p>
          <a:p>
            <a:pPr algn="just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Physical Activity positively impacts Sleep Quality</a:t>
            </a:r>
          </a:p>
          <a:p>
            <a:pPr algn="just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Occupation significantly affects Sleep Quality (ANOVA Significant)</a:t>
            </a:r>
          </a:p>
          <a:p>
            <a:pPr algn="just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BMI Category is significantly associated with Sleep Disorders (Chi-Square Significant)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97256" y="1247775"/>
            <a:ext cx="7725707" cy="755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00"/>
              </a:lnSpc>
            </a:pPr>
            <a:r>
              <a:rPr lang="en-US" sz="3000" b="true">
                <a:solidFill>
                  <a:srgbClr val="F4F4F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Future Scope</a:t>
            </a:r>
          </a:p>
          <a:p>
            <a:pPr algn="just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evelop a real-time Lifestyle Monitoring System</a:t>
            </a:r>
          </a:p>
          <a:p>
            <a:pPr algn="just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Integrate wearable devices and health trackers</a:t>
            </a:r>
          </a:p>
          <a:p>
            <a:pPr algn="just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Build personalized AI-based health recommendations</a:t>
            </a:r>
          </a:p>
          <a:p>
            <a:pPr algn="just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Predict sleep disorders before symptoms become severe</a:t>
            </a:r>
          </a:p>
          <a:p>
            <a:pPr algn="just" marL="647700" indent="-323850" lvl="1">
              <a:lnSpc>
                <a:spcPts val="54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Create a health dashboard for continuous lifestyle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1273" y="351273"/>
            <a:ext cx="1354855" cy="1354855"/>
          </a:xfrm>
          <a:custGeom>
            <a:avLst/>
            <a:gdLst/>
            <a:ahLst/>
            <a:cxnLst/>
            <a:rect r="r" b="b" t="t" l="l"/>
            <a:pathLst>
              <a:path h="1354855" w="1354855">
                <a:moveTo>
                  <a:pt x="0" y="0"/>
                </a:moveTo>
                <a:lnTo>
                  <a:pt x="1354854" y="0"/>
                </a:lnTo>
                <a:lnTo>
                  <a:pt x="1354854" y="1354854"/>
                </a:lnTo>
                <a:lnTo>
                  <a:pt x="0" y="13548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35491" y="6204547"/>
            <a:ext cx="1047619" cy="1047619"/>
          </a:xfrm>
          <a:custGeom>
            <a:avLst/>
            <a:gdLst/>
            <a:ahLst/>
            <a:cxnLst/>
            <a:rect r="r" b="b" t="t" l="l"/>
            <a:pathLst>
              <a:path h="1047619" w="1047619">
                <a:moveTo>
                  <a:pt x="0" y="0"/>
                </a:moveTo>
                <a:lnTo>
                  <a:pt x="1047618" y="0"/>
                </a:lnTo>
                <a:lnTo>
                  <a:pt x="1047618" y="1047618"/>
                </a:lnTo>
                <a:lnTo>
                  <a:pt x="0" y="1047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006264"/>
            <a:ext cx="16230600" cy="3198282"/>
            <a:chOff x="0" y="0"/>
            <a:chExt cx="21640800" cy="426437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6545497" y="-38100"/>
              <a:ext cx="8549806" cy="16518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0"/>
                </a:lnSpc>
              </a:pPr>
              <a:r>
                <a:rPr lang="en-US" sz="8000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THANK YOU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270476"/>
              <a:ext cx="21640800" cy="199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99"/>
                </a:lnSpc>
              </a:pPr>
              <a:r>
                <a:rPr lang="en-US" sz="39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Better Sleep + Lower Stress + Regular Physical </a:t>
              </a:r>
              <a:r>
                <a:rPr lang="en-US" sz="3999" b="true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Activity = Healthier Lifestyle &amp; Improved Well-Being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DAHM7vSCiY8</dc:identifier>
  <dcterms:modified xsi:type="dcterms:W3CDTF">2011-08-01T06:04:30Z</dcterms:modified>
  <cp:revision>1</cp:revision>
  <dc:title>Black White and Blue Modern Data Analyst Presentation</dc:title>
</cp:coreProperties>
</file>